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18288"/>
          </a:xfrm>
          <a:prstGeom prst="rect">
            <a:avLst/>
          </a:prstGeom>
          <a:solidFill>
            <a:srgbClr val="2B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FE9D8"/>
                </a:solidFill>
                <a:latin typeface="Calibri"/>
              </a:rPr>
              <a:t>COMPUTATIONAL GEOMETRY  · 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Evaluating Utility-Service Accessibility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in Dhaka City using Voronoi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ADBDB7"/>
                </a:solidFill>
                <a:latin typeface="Calibri"/>
              </a:rPr>
              <a:t>Partitioning the city by nearest facility to measure service coverage — and to locate, quantitatively, where a new facility would help most.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23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CA6"/>
                </a:solidFill>
                <a:latin typeface="Calibri"/>
              </a:rPr>
              <a:t>6 services · 75 facilities · 217 km²   |   Group members: </a:t>
            </a:r>
            <a:r>
              <a:rPr sz="1300" b="0">
                <a:solidFill>
                  <a:srgbClr val="9AACA6"/>
                </a:solidFill>
                <a:latin typeface="Calibri"/>
              </a:rPr>
              <a:t>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PROBLEM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Why measure accessibility?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943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A5F52"/>
                </a:solidFill>
                <a:latin typeface="Calibri"/>
              </a:rPr>
              <a:t>The problem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D524C"/>
                </a:solidFill>
                <a:latin typeface="Calibri"/>
              </a:rPr>
              <a:t>Dhaka is one of the world's densest cities and its utility services have grown unevenly. Some neighbourhoods reach a hospital, metro or fire station within a few hundred metres; others travel several kilometres.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A5F52"/>
                </a:solidFill>
                <a:latin typeface="Calibri"/>
              </a:rPr>
              <a:t>Objective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D524C"/>
                </a:solidFill>
                <a:latin typeface="Calibri"/>
              </a:rPr>
              <a:t>Evaluate the spatial accessibility of utility services in Dhaka using Voronoi diagrams, identify well-served vs underserved areas, and recommend where new facilities should be added.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828800"/>
            <a:ext cx="4572000" cy="356616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57400"/>
            <a:ext cx="4114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A5F52"/>
                </a:solidFill>
                <a:latin typeface="Calibri"/>
              </a:rPr>
              <a:t>The idea in one line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D524C"/>
                </a:solidFill>
                <a:latin typeface="Calibri"/>
              </a:rPr>
              <a:t>A Voronoi diagram assigns every point to its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D7D6B"/>
                </a:solidFill>
                <a:latin typeface="Calibri"/>
              </a:rPr>
              <a:t>nearest facility.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D524C"/>
                </a:solidFill>
                <a:latin typeface="Calibri"/>
              </a:rPr>
              <a:t>So its cells are the service catchments, and the distance to the cell's facility is the travel burden a resident bears.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What is a Voronoi diagram?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3D524C"/>
                </a:solidFill>
                <a:latin typeface="Calibri"/>
              </a:rPr>
              <a:t>Given a set of points (seeds), the plane is split into cells: every location belongs to the cell of its nearest seed.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211D"/>
                </a:solidFill>
                <a:latin typeface="Calibri"/>
              </a:rPr>
              <a:t>Done properly (Euclidean distance):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each boundary is the perpendicular bisector of two seeds — a straight 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exactly three cells meet at each vertex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one seed per cell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A5F52"/>
                </a:solidFill>
                <a:latin typeface="Calibri"/>
              </a:rPr>
              <a:t>This is exactly the geometry of “which facility is closest” — the natural tool for accessibility.</a:t>
            </a:r>
          </a:p>
        </p:txBody>
      </p:sp>
      <p:pic>
        <p:nvPicPr>
          <p:cNvPr id="10" name="Picture 9" descr="construct-pro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066" y="1874520"/>
            <a:ext cx="4288587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From freehand sketch to a proper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The three hand-drawn sketches, reconstructed as geometrically exact Voronoi diagrams — straight bisector edges, correct vertices, one seed per cell.</a:t>
            </a:r>
          </a:p>
        </p:txBody>
      </p:sp>
      <p:pic>
        <p:nvPicPr>
          <p:cNvPr id="10" name="Picture 9" descr="construct-pro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41" y="1874520"/>
            <a:ext cx="477592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How the analysis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697480" cy="329184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0080" y="2191680"/>
            <a:ext cx="548640" cy="548640"/>
          </a:xfrm>
          <a:prstGeom prst="ellipse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80" y="2911680"/>
            <a:ext cx="23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2211D"/>
                </a:solidFill>
                <a:latin typeface="Calibri"/>
              </a:rPr>
              <a:t>Collect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80" y="3361680"/>
            <a:ext cx="2397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Approximate longitude/latitude of every facility, per service, across Dhaka.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2011680"/>
            <a:ext cx="2697480" cy="329184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5576" y="2191680"/>
            <a:ext cx="548640" cy="548640"/>
          </a:xfrm>
          <a:prstGeom prst="ellipse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5576" y="2911680"/>
            <a:ext cx="23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2211D"/>
                </a:solidFill>
                <a:latin typeface="Calibri"/>
              </a:rPr>
              <a:t>Tessellate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5576" y="3361680"/>
            <a:ext cx="2397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Assign every point in the city to its nearest facility — the Voronoi partition (a fine distance raster over the city boundary).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2011680"/>
            <a:ext cx="2697480" cy="329184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71072" y="2191680"/>
            <a:ext cx="548640" cy="548640"/>
          </a:xfrm>
          <a:prstGeom prst="ellipse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1072" y="2911680"/>
            <a:ext cx="23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2211D"/>
                </a:solidFill>
                <a:latin typeface="Calibri"/>
              </a:rPr>
              <a:t>Score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072" y="3361680"/>
            <a:ext cx="2397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Distance-to-nearest-facility (km) per location → mean / median / worst access and the share of the city beyond a threshold.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8" y="2011680"/>
            <a:ext cx="2697480" cy="329184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6568" y="2191680"/>
            <a:ext cx="548640" cy="548640"/>
          </a:xfrm>
          <a:prstGeom prst="ellipse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6568" y="2911680"/>
            <a:ext cx="23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2211D"/>
                </a:solidFill>
                <a:latin typeface="Calibri"/>
              </a:rPr>
              <a:t>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6568" y="3361680"/>
            <a:ext cx="2397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Greedy largest-empty-circle: place new sites where the current gap is largest.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1847D"/>
                </a:solidFill>
                <a:latin typeface="Calibri"/>
              </a:rPr>
              <a:t>Projection: equirectangular about 23.78°N (1° lat ≈ 110.6 km, 1° lon ≈ 101.9 km). Distances are straight-line.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STUDY AREA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Six services, 75 facilities across 217 km²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74980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3749039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Facilities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Metro (MRT-6)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Line-6 stations, Uttara North → Motijheel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Hospitals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Major general &amp; specialist hospitals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Water (WASA)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Treatment plants &amp; zonal points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Fuel / CNG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Filling &amp; CNG stations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Bus stops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Terminals &amp; major stops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Fire stations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Fire Service &amp; Civil Defence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503920" y="1828800"/>
            <a:ext cx="3063240" cy="3474720"/>
          </a:xfrm>
          <a:prstGeom prst="rect">
            <a:avLst/>
          </a:prstGeom>
          <a:solidFill>
            <a:srgbClr val="ECF4F2"/>
          </a:solidFill>
          <a:ln w="12700">
            <a:solidFill>
              <a:srgbClr val="0D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057400"/>
            <a:ext cx="2651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A5F52"/>
                </a:solidFill>
                <a:latin typeface="Calibri"/>
              </a:rPr>
              <a:t>Data note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Coordinates are hand-compiled approximations for a methodological case study — not an official register.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Distances are straight-line, not road-network.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Coverage heatmaps — all six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2211D"/>
                </a:solidFill>
                <a:latin typeface="Calibri"/>
              </a:rPr>
              <a:t>Bus</a:t>
            </a:r>
          </a:p>
        </p:txBody>
      </p:sp>
      <p:pic>
        <p:nvPicPr>
          <p:cNvPr id="10" name="Picture 9" descr="heat-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47" y="2494370"/>
            <a:ext cx="1708799" cy="30093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38247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2211D"/>
                </a:solidFill>
                <a:latin typeface="Calibri"/>
              </a:rPr>
              <a:t>Fuel/CNG</a:t>
            </a:r>
          </a:p>
        </p:txBody>
      </p:sp>
      <p:pic>
        <p:nvPicPr>
          <p:cNvPr id="12" name="Picture 11" descr="heat-fu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247" y="2494370"/>
            <a:ext cx="1708799" cy="30093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7047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2211D"/>
                </a:solidFill>
                <a:latin typeface="Calibri"/>
              </a:rPr>
              <a:t>Hospitals</a:t>
            </a:r>
          </a:p>
        </p:txBody>
      </p:sp>
      <p:pic>
        <p:nvPicPr>
          <p:cNvPr id="14" name="Picture 13" descr="heat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047" y="2494370"/>
            <a:ext cx="1708799" cy="30093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2211D"/>
                </a:solidFill>
                <a:latin typeface="Calibri"/>
              </a:rPr>
              <a:t>Water</a:t>
            </a:r>
          </a:p>
        </p:txBody>
      </p:sp>
      <p:pic>
        <p:nvPicPr>
          <p:cNvPr id="16" name="Picture 15" descr="heat-wa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847" y="2494370"/>
            <a:ext cx="1708799" cy="30093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24647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2211D"/>
                </a:solidFill>
                <a:latin typeface="Calibri"/>
              </a:rPr>
              <a:t>Fire</a:t>
            </a:r>
          </a:p>
        </p:txBody>
      </p:sp>
      <p:pic>
        <p:nvPicPr>
          <p:cNvPr id="18" name="Picture 17" descr="heat-fi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4647" y="2494370"/>
            <a:ext cx="1708799" cy="30093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53447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2211D"/>
                </a:solidFill>
                <a:latin typeface="Calibri"/>
              </a:rPr>
              <a:t>Metro</a:t>
            </a:r>
          </a:p>
        </p:txBody>
      </p:sp>
      <p:pic>
        <p:nvPicPr>
          <p:cNvPr id="20" name="Picture 19" descr="heat-met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3447" y="2494370"/>
            <a:ext cx="1708799" cy="30093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1847D"/>
                </a:solidFill>
                <a:latin typeface="Calibri"/>
              </a:rPr>
              <a:t>Light = close to a facility (well served);  deep red = far (underserved).  Teal rings = recommended new sites.  The eastern &amp; peripheral red zones recur across every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Accessibility, ranked by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Facilities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Mean km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Median km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Worst km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&gt; 1.5 km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Bus stops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5.91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66.0%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Fuel / CNG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2.18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2.05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5.99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67.6%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Hospitals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2.23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2.09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6.82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69.7%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Water (WASA)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2.33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2.15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7.05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71.7%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Fire stations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2.34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2.19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6.65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D524C"/>
                          </a:solidFill>
                          <a:latin typeface="Calibri"/>
                        </a:rPr>
                        <a:t>74.5%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1B"/>
                          </a:solidFill>
                          <a:latin typeface="Calibri"/>
                        </a:rPr>
                        <a:t>Metro (MRT-6)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1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1B"/>
                          </a:solidFill>
                          <a:latin typeface="Calibri"/>
                        </a:rPr>
                        <a:t>2.92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1B"/>
                          </a:solidFill>
                          <a:latin typeface="Calibri"/>
                        </a:rPr>
                        <a:t>2.57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1B"/>
                          </a:solidFill>
                          <a:latin typeface="Calibri"/>
                        </a:rPr>
                        <a:t>8.60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1B"/>
                          </a:solidFill>
                          <a:latin typeface="Calibri"/>
                        </a:rPr>
                        <a:t>73.4%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A5F52"/>
                </a:solidFill>
                <a:latin typeface="Calibri"/>
              </a:rPr>
              <a:t>Key insight:  </a:t>
            </a:r>
            <a:r>
              <a:rPr sz="1500" b="0">
                <a:solidFill>
                  <a:srgbClr val="3D524C"/>
                </a:solidFill>
                <a:latin typeface="Calibri"/>
              </a:rPr>
              <a:t>the metro has the most facilities (16) yet the worst accessibility — its stations are collinear (a line), so the entire eastern half of the city falls far from any station.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The metro coverage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pic>
        <p:nvPicPr>
          <p:cNvPr id="9" name="Picture 8" descr="heat-me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702" y="2011680"/>
            <a:ext cx="2336515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616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Coverage heatmap</a:t>
            </a:r>
          </a:p>
        </p:txBody>
      </p:sp>
      <p:pic>
        <p:nvPicPr>
          <p:cNvPr id="11" name="Picture 10" descr="cells-me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542" y="2011680"/>
            <a:ext cx="2336515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616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regions (by cell size)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11680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The metro line hugs the west and centre. Its eastern Voronoi cells are the largest in the study — Gulshan, Badda and Bashundhara sit kilometres from any station.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0391B"/>
                </a:solidFill>
                <a:latin typeface="Calibri"/>
              </a:rPr>
              <a:t>Worst-served: 8.6 km from a station.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The same areas are underserved everywhere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2211D"/>
                </a:solidFill>
                <a:latin typeface="Calibri"/>
              </a:rPr>
              <a:t>Across all six services, 66–75% of the city lies more than 1.5 km from the nearest facility.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A5F52"/>
                </a:solidFill>
                <a:latin typeface="Calibri"/>
              </a:rPr>
              <a:t>Consistently underserved: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Eastern belt — Bashundhara, Vatara, Badda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Northern fringe — Dakshinkhan, Uttarkhan, Abdullahpur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North-west — Turag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•  South-west — Kamrangirchar, Hazaribagh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>
                <a:solidFill>
                  <a:srgbClr val="3D524C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3D524C"/>
                </a:solidFill>
                <a:latin typeface="Calibri"/>
              </a:rPr>
              <a:t>Well served:  the Motijheel–Shahbagh–Dhanmondi–Farmgate core, where every service clusters.</a:t>
            </a:r>
          </a:p>
        </p:txBody>
      </p:sp>
      <p:pic>
        <p:nvPicPr>
          <p:cNvPr id="10" name="Picture 9" descr="heat-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703" y="1965959"/>
            <a:ext cx="2284593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Where to build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  <a:gridCol w="1737360"/>
                <a:gridCol w="1737360"/>
              </a:tblGrid>
              <a:tr h="509451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Site 1 (gap km)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Site 2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Site 3</a:t>
                      </a:r>
                    </a:p>
                  </a:txBody>
                  <a:tcPr anchor="ctr" marT="38100" marB="38100" marL="101600">
                    <a:solidFill>
                      <a:srgbClr val="0D7D6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Metro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Bashundhara (8.6)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Badda (6.3)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Dakshinkhan (6.0)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Hospitals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Turag (6.8)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Turag S (4.9)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Dakshinkhan (4.7)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Water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Dakshinkhan (7.1)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Kamrangirchar (4.8)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Turag (4.7)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Fuel / CNG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Kamrangirchar (6.0)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Dakshinkhan (5.7)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Turag (4.6)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Bus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Turag (5.9)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Bashundhara (5.6)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Kamrangirchar (4.7)</a:t>
                      </a:r>
                    </a:p>
                  </a:txBody>
                  <a:tcPr anchor="ctr" marT="38100" marB="38100" marL="101600">
                    <a:solidFill>
                      <a:srgbClr val="F4F7F6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Fire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Bashundhara (6.7)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Turag (5.3)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D524C"/>
                          </a:solidFill>
                          <a:latin typeface="Calibri"/>
                        </a:rPr>
                        <a:t>Cantonment (4.5)</a:t>
                      </a:r>
                    </a:p>
                  </a:txBody>
                  <a:tcPr anchor="ctr" marT="38100" marB="38100" marL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173736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A5F52"/>
                </a:solidFill>
                <a:latin typeface="Calibri"/>
              </a:rPr>
              <a:t>Priority zones (build once, help several)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194560"/>
            <a:ext cx="3840480" cy="914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194560"/>
            <a:ext cx="82296" cy="914400"/>
          </a:xfrm>
          <a:prstGeom prst="rect">
            <a:avLst/>
          </a:prstGeom>
          <a:solidFill>
            <a:srgbClr val="C03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645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391B"/>
                </a:solidFill>
                <a:latin typeface="Calibri"/>
              </a:rPr>
              <a:t>Priority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745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Eastern belt — Bashundhara / Badda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3246120"/>
            <a:ext cx="3840480" cy="914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3246120"/>
            <a:ext cx="82296" cy="914400"/>
          </a:xfrm>
          <a:prstGeom prst="rect">
            <a:avLst/>
          </a:prstGeom>
          <a:solidFill>
            <a:srgbClr val="C03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3161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391B"/>
                </a:solidFill>
                <a:latin typeface="Calibri"/>
              </a:rPr>
              <a:t>Priority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2612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Northern fringe — Dakshinkhan / Uttarkhan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4297680"/>
            <a:ext cx="3840480" cy="914400"/>
          </a:xfrm>
          <a:prstGeom prst="rect">
            <a:avLst/>
          </a:prstGeom>
          <a:solidFill>
            <a:srgbClr val="F4F7F6"/>
          </a:solidFill>
          <a:ln w="12700">
            <a:solidFill>
              <a:srgbClr val="D9E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4297680"/>
            <a:ext cx="82296" cy="914400"/>
          </a:xfrm>
          <a:prstGeom prst="rect">
            <a:avLst/>
          </a:prstGeom>
          <a:solidFill>
            <a:srgbClr val="C03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3676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391B"/>
                </a:solidFill>
                <a:latin typeface="Calibri"/>
              </a:rPr>
              <a:t>Priority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7768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D524C"/>
                </a:solidFill>
                <a:latin typeface="Calibri"/>
              </a:rPr>
              <a:t>Turag &amp; Kamrangirchar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A5F52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2211D"/>
                </a:solidFill>
                <a:latin typeface="Calibri"/>
              </a:rPr>
              <a:t>What this analysis does not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914400" cy="50292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825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1847D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71847D"/>
                </a:solidFill>
                <a:latin typeface="Calibri"/>
              </a:rPr>
              <a:t>Voronoi Accessibility Analysis · Dhaka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82296" cy="86868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211D"/>
                </a:solidFill>
                <a:latin typeface="Calibri"/>
              </a:rPr>
              <a:t>Approximate data.  </a:t>
            </a:r>
            <a:r>
              <a:rPr sz="1500" b="0">
                <a:solidFill>
                  <a:srgbClr val="3D524C"/>
                </a:solidFill>
                <a:latin typeface="Calibri"/>
              </a:rPr>
              <a:t>Coordinates are hand-compiled, not surveyed; counts are representative. Conclusions are about method and pattern, not exact metres.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98647"/>
            <a:ext cx="82296" cy="86868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7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211D"/>
                </a:solidFill>
                <a:latin typeface="Calibri"/>
              </a:rPr>
              <a:t>Straight-line distance.  </a:t>
            </a:r>
            <a:r>
              <a:rPr sz="1500" b="0">
                <a:solidFill>
                  <a:srgbClr val="3D524C"/>
                </a:solidFill>
                <a:latin typeface="Calibri"/>
              </a:rPr>
              <a:t>Real travel follows roads, rivers and congestion — Euclidean distance under-states true travel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22775"/>
            <a:ext cx="82296" cy="86868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5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211D"/>
                </a:solidFill>
                <a:latin typeface="Calibri"/>
              </a:rPr>
              <a:t>Demand-blind.  </a:t>
            </a:r>
            <a:r>
              <a:rPr sz="1500" b="0">
                <a:solidFill>
                  <a:srgbClr val="3D524C"/>
                </a:solidFill>
                <a:latin typeface="Calibri"/>
              </a:rPr>
              <a:t>Weights area, not population. A population-weighted Voronoi is the natural next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46903"/>
            <a:ext cx="82296" cy="868680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3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211D"/>
                </a:solidFill>
                <a:latin typeface="Calibri"/>
              </a:rPr>
              <a:t>Capacity-blind.  </a:t>
            </a:r>
            <a:r>
              <a:rPr sz="1500" b="0">
                <a:solidFill>
                  <a:srgbClr val="3D524C"/>
                </a:solidFill>
                <a:latin typeface="Calibri"/>
              </a:rPr>
              <a:t>Nearest ≠ adequate — a close but overloaded hospital still under-serves.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FE9D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Voronoi diagrams turn a scatter of facilities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into a measurable map of who is underserved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8FE9D8"/>
                </a:solidFill>
                <a:latin typeface="Calibri"/>
              </a:rPr>
              <a:t>and where to build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DBDB7"/>
                </a:solidFill>
                <a:latin typeface="Calibri"/>
              </a:rPr>
              <a:t>•  66–75% of Dhaka is &gt;1.5 km from the nearest facility of each service.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DBDB7"/>
                </a:solidFill>
                <a:latin typeface="Calibri"/>
              </a:rPr>
              <a:t>•  The east (Bashundhara–Badda) and the northern/NW fringe are underserved across the board.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DBDB7"/>
                </a:solidFill>
                <a:latin typeface="Calibri"/>
              </a:rPr>
              <a:t>•  Priority sites are identified for each service by the largest-empty-circle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ACA6"/>
                </a:solidFill>
                <a:latin typeface="Calibri"/>
              </a:rPr>
              <a:t>Interactive tool, report and data accompany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